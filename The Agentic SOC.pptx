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8" r:id="rId3"/>
    <p:sldId id="257" r:id="rId4"/>
    <p:sldId id="259" r:id="rId5"/>
    <p:sldId id="260" r:id="rId6"/>
    <p:sldId id="261" r:id="rId7"/>
    <p:sldId id="262" r:id="rId8"/>
  </p:sldIdLst>
  <p:sldSz cx="12192000" cy="6858000"/>
  <p:notesSz cx="6858000" cy="9144000"/>
  <p:embeddedFontLst>
    <p:embeddedFont>
      <p:font typeface="Inter" panose="020B0604020202020204" charset="0"/>
      <p:regular r:id="rId10"/>
      <p:bold r:id="rId11"/>
      <p:italic r:id="rId12"/>
      <p:boldItalic r:id="rId13"/>
    </p:embeddedFont>
    <p:embeddedFont>
      <p:font typeface="Space Grotesk"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243" y="3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24DCDE1-48E1-1EE0-1F4F-79EDDE216F6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2306971-C1BC-88F6-194E-7CEB0489A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9EB4D0B-F55C-A966-855B-8C008DE23B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1373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595437" y="2531715"/>
            <a:ext cx="9001125" cy="88002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300" b="1" i="0" u="none" strike="noStrike" cap="none">
                <a:solidFill>
                  <a:srgbClr val="F8FAFC"/>
                </a:solidFill>
                <a:latin typeface="Space Grotesk"/>
                <a:ea typeface="Space Grotesk"/>
                <a:cs typeface="Space Grotesk"/>
                <a:sym typeface="Space Grotesk"/>
              </a:rPr>
              <a:t>The </a:t>
            </a:r>
            <a:r>
              <a:rPr lang="en-US" sz="6300" b="1" i="0" u="none" strike="noStrike" cap="none">
                <a:solidFill>
                  <a:srgbClr val="00E5FF"/>
                </a:solidFill>
                <a:latin typeface="Space Grotesk"/>
                <a:ea typeface="Space Grotesk"/>
                <a:cs typeface="Space Grotesk"/>
                <a:sym typeface="Space Grotesk"/>
              </a:rPr>
              <a:t>Agentic</a:t>
            </a:r>
            <a:r>
              <a:rPr lang="en-US" sz="6300" b="1" i="0" u="none" strike="noStrike" cap="none">
                <a:solidFill>
                  <a:srgbClr val="F8FAFC"/>
                </a:solidFill>
                <a:latin typeface="Space Grotesk"/>
                <a:ea typeface="Space Grotesk"/>
                <a:cs typeface="Space Grotesk"/>
                <a:sym typeface="Space Grotesk"/>
              </a:rPr>
              <a:t> SOC</a:t>
            </a:r>
            <a:endParaRPr/>
          </a:p>
        </p:txBody>
      </p:sp>
      <p:sp>
        <p:nvSpPr>
          <p:cNvPr id="86" name="Google Shape;86;p13"/>
          <p:cNvSpPr txBox="1"/>
          <p:nvPr/>
        </p:nvSpPr>
        <p:spPr>
          <a:xfrm>
            <a:off x="1809750" y="3640335"/>
            <a:ext cx="85725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CBD5E1"/>
                </a:solidFill>
                <a:latin typeface="Inter"/>
                <a:ea typeface="Inter"/>
                <a:cs typeface="Inter"/>
                <a:sym typeface="Inter"/>
              </a:rPr>
              <a:t>Fighting machine-speed attacks with machine-speed defense. A strategic shift to autonomous AI in the Security Operations Center.</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6" name="Google Shape;106;p15" descr="image.png"/>
          <p:cNvPicPr preferRelativeResize="0"/>
          <p:nvPr/>
        </p:nvPicPr>
        <p:blipFill rotWithShape="1">
          <a:blip r:embed="rId4">
            <a:alphaModFix/>
          </a:blip>
          <a:srcRect/>
          <a:stretch/>
        </p:blipFill>
        <p:spPr>
          <a:xfrm>
            <a:off x="581025" y="1590675"/>
            <a:ext cx="5229225" cy="4686300"/>
          </a:xfrm>
          <a:prstGeom prst="rect">
            <a:avLst/>
          </a:prstGeom>
          <a:noFill/>
          <a:ln>
            <a:noFill/>
          </a:ln>
        </p:spPr>
      </p:pic>
      <p:pic>
        <p:nvPicPr>
          <p:cNvPr id="107" name="Google Shape;107;p15" descr="image.png"/>
          <p:cNvPicPr preferRelativeResize="0"/>
          <p:nvPr/>
        </p:nvPicPr>
        <p:blipFill rotWithShape="1">
          <a:blip r:embed="rId5">
            <a:alphaModFix/>
          </a:blip>
          <a:srcRect/>
          <a:stretch/>
        </p:blipFill>
        <p:spPr>
          <a:xfrm>
            <a:off x="6381750" y="1590675"/>
            <a:ext cx="5229225" cy="4686300"/>
          </a:xfrm>
          <a:prstGeom prst="rect">
            <a:avLst/>
          </a:prstGeom>
          <a:noFill/>
          <a:ln>
            <a:noFill/>
          </a:ln>
        </p:spPr>
      </p:pic>
      <p:sp>
        <p:nvSpPr>
          <p:cNvPr id="108" name="Google Shape;108;p15"/>
          <p:cNvSpPr txBox="1"/>
          <p:nvPr/>
        </p:nvSpPr>
        <p:spPr>
          <a:xfrm>
            <a:off x="1066800" y="2547937"/>
            <a:ext cx="4470558"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2E8F0"/>
                </a:solidFill>
                <a:latin typeface="Space Grotesk"/>
                <a:ea typeface="Space Grotesk"/>
                <a:cs typeface="Space Grotesk"/>
                <a:sym typeface="Space Grotesk"/>
              </a:rPr>
              <a:t>Legacy Automation (SOAR)</a:t>
            </a:r>
            <a:endParaRPr/>
          </a:p>
        </p:txBody>
      </p:sp>
      <p:sp>
        <p:nvSpPr>
          <p:cNvPr id="109" name="Google Shape;109;p15"/>
          <p:cNvSpPr txBox="1"/>
          <p:nvPr/>
        </p:nvSpPr>
        <p:spPr>
          <a:xfrm>
            <a:off x="1066800" y="3043237"/>
            <a:ext cx="4257675" cy="2133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Traditional orchestration relies on rigid, static playbooks. It follows a strict "If X, then Y" logic model. While helpful for basic tasks, it completely fails to adapt when attackers utilize novel techniques or mutate their behavior, still requiring heavy human oversight.</a:t>
            </a:r>
            <a:endParaRPr/>
          </a:p>
        </p:txBody>
      </p:sp>
      <p:sp>
        <p:nvSpPr>
          <p:cNvPr id="110" name="Google Shape;110;p15"/>
          <p:cNvSpPr txBox="1"/>
          <p:nvPr/>
        </p:nvSpPr>
        <p:spPr>
          <a:xfrm>
            <a:off x="6867525" y="2547937"/>
            <a:ext cx="4470558"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2E8F0"/>
                </a:solidFill>
                <a:latin typeface="Space Grotesk"/>
                <a:ea typeface="Space Grotesk"/>
                <a:cs typeface="Space Grotesk"/>
                <a:sym typeface="Space Grotesk"/>
              </a:rPr>
              <a:t>Agentic Systems</a:t>
            </a:r>
            <a:endParaRPr/>
          </a:p>
        </p:txBody>
      </p:sp>
      <p:sp>
        <p:nvSpPr>
          <p:cNvPr id="111" name="Google Shape;111;p15"/>
          <p:cNvSpPr txBox="1"/>
          <p:nvPr/>
        </p:nvSpPr>
        <p:spPr>
          <a:xfrm>
            <a:off x="6867525" y="3043237"/>
            <a:ext cx="4257675" cy="2133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Agentic AI architectures act as dynamic reasoning engines. They autonomously pull context, cross-correlate weak signals, test hypotheses across endpoints, and adapt their workflows in real-time—mirroring the analytical methodology of a seasoned human investigator.</a:t>
            </a:r>
            <a:endParaRPr/>
          </a:p>
        </p:txBody>
      </p:sp>
      <p:sp>
        <p:nvSpPr>
          <p:cNvPr id="112" name="Google Shape;112;p15"/>
          <p:cNvSpPr txBox="1"/>
          <p:nvPr/>
        </p:nvSpPr>
        <p:spPr>
          <a:xfrm>
            <a:off x="581025" y="581025"/>
            <a:ext cx="11581447"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i="0" u="none" strike="noStrike" cap="none">
                <a:solidFill>
                  <a:srgbClr val="F8FAFC"/>
                </a:solidFill>
                <a:latin typeface="Space Grotesk"/>
                <a:ea typeface="Space Grotesk"/>
                <a:cs typeface="Space Grotesk"/>
                <a:sym typeface="Space Grotesk"/>
              </a:rPr>
              <a:t>Beyond Legacy </a:t>
            </a:r>
            <a:r>
              <a:rPr lang="en-US" sz="3900" b="1" i="0" u="none" strike="noStrike" cap="none">
                <a:solidFill>
                  <a:srgbClr val="00E5FF"/>
                </a:solidFill>
                <a:latin typeface="Space Grotesk"/>
                <a:ea typeface="Space Grotesk"/>
                <a:cs typeface="Space Grotesk"/>
                <a:sym typeface="Space Grotesk"/>
              </a:rPr>
              <a:t>Playbooks</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6381750" y="2028825"/>
            <a:ext cx="5229225" cy="3810000"/>
          </a:xfrm>
          <a:prstGeom prst="rect">
            <a:avLst/>
          </a:prstGeom>
          <a:noFill/>
          <a:ln>
            <a:noFill/>
          </a:ln>
        </p:spPr>
      </p:pic>
      <p:sp>
        <p:nvSpPr>
          <p:cNvPr id="93" name="Google Shape;93;p14"/>
          <p:cNvSpPr txBox="1"/>
          <p:nvPr/>
        </p:nvSpPr>
        <p:spPr>
          <a:xfrm>
            <a:off x="914400" y="2066925"/>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F8FAFC"/>
                </a:solidFill>
                <a:latin typeface="Inter"/>
                <a:ea typeface="Inter"/>
                <a:cs typeface="Inter"/>
                <a:sym typeface="Inter"/>
              </a:rPr>
              <a:t>Collapsed Attack Timelines:</a:t>
            </a:r>
            <a:r>
              <a:rPr lang="en-US" sz="1500" b="0" i="0" u="none" strike="noStrike" cap="none" dirty="0">
                <a:solidFill>
                  <a:srgbClr val="94A3B8"/>
                </a:solidFill>
                <a:latin typeface="Inter"/>
                <a:ea typeface="Inter"/>
                <a:cs typeface="Inter"/>
                <a:sym typeface="Inter"/>
              </a:rPr>
              <a:t> Modern threat actors, heavily utilizing AI, can now exfiltrate data in as little as 72 minutes after initial access.</a:t>
            </a:r>
            <a:endParaRPr dirty="0"/>
          </a:p>
        </p:txBody>
      </p:sp>
      <p:sp>
        <p:nvSpPr>
          <p:cNvPr id="94" name="Google Shape;94;p14"/>
          <p:cNvSpPr txBox="1"/>
          <p:nvPr/>
        </p:nvSpPr>
        <p:spPr>
          <a:xfrm>
            <a:off x="914400" y="3209925"/>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F8FAFC"/>
                </a:solidFill>
                <a:latin typeface="Inter"/>
                <a:ea typeface="Inter"/>
                <a:cs typeface="Inter"/>
                <a:sym typeface="Inter"/>
              </a:rPr>
              <a:t>The Data Avalanche:</a:t>
            </a:r>
            <a:r>
              <a:rPr lang="en-US" sz="1500" b="0" i="0" u="none" strike="noStrike" cap="none" dirty="0">
                <a:solidFill>
                  <a:srgbClr val="94A3B8"/>
                </a:solidFill>
                <a:latin typeface="Inter"/>
                <a:ea typeface="Inter"/>
                <a:cs typeface="Inter"/>
                <a:sym typeface="Inter"/>
              </a:rPr>
              <a:t> Large enterprise SOCs are processing upwards of 3,000 security alerts per day across dozens of disparate tools.</a:t>
            </a:r>
            <a:endParaRPr dirty="0"/>
          </a:p>
        </p:txBody>
      </p:sp>
      <p:sp>
        <p:nvSpPr>
          <p:cNvPr id="95" name="Google Shape;95;p14"/>
          <p:cNvSpPr txBox="1"/>
          <p:nvPr/>
        </p:nvSpPr>
        <p:spPr>
          <a:xfrm>
            <a:off x="914400" y="4352925"/>
            <a:ext cx="48958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8FAFC"/>
                </a:solidFill>
                <a:latin typeface="Inter"/>
                <a:ea typeface="Inter"/>
                <a:cs typeface="Inter"/>
                <a:sym typeface="Inter"/>
              </a:rPr>
              <a:t>Human Bottlenecks:</a:t>
            </a:r>
            <a:r>
              <a:rPr lang="en-US" sz="1500" b="0" i="0" u="none" strike="noStrike" cap="none">
                <a:solidFill>
                  <a:srgbClr val="94A3B8"/>
                </a:solidFill>
                <a:latin typeface="Inter"/>
                <a:ea typeface="Inter"/>
                <a:cs typeface="Inter"/>
                <a:sym typeface="Inter"/>
              </a:rPr>
              <a:t> Tier-1 triage remains overwhelmingly manual. Security teams are mathematically unable to investigate every alert, leading to critical fatigue and delayed responses.</a:t>
            </a:r>
            <a:endParaRPr/>
          </a:p>
        </p:txBody>
      </p:sp>
      <p:pic>
        <p:nvPicPr>
          <p:cNvPr id="96" name="Google Shape;96;p14" descr="image.png"/>
          <p:cNvPicPr preferRelativeResize="0"/>
          <p:nvPr/>
        </p:nvPicPr>
        <p:blipFill rotWithShape="1">
          <a:blip r:embed="rId5">
            <a:alphaModFix/>
          </a:blip>
          <a:srcRect/>
          <a:stretch/>
        </p:blipFill>
        <p:spPr>
          <a:xfrm>
            <a:off x="6391275" y="2038350"/>
            <a:ext cx="5210175" cy="381000"/>
          </a:xfrm>
          <a:prstGeom prst="rect">
            <a:avLst/>
          </a:prstGeom>
          <a:noFill/>
          <a:ln>
            <a:noFill/>
          </a:ln>
        </p:spPr>
      </p:pic>
      <p:pic>
        <p:nvPicPr>
          <p:cNvPr id="97" name="Google Shape;97;p14" descr="image.png"/>
          <p:cNvPicPr preferRelativeResize="0"/>
          <p:nvPr/>
        </p:nvPicPr>
        <p:blipFill rotWithShape="1">
          <a:blip r:embed="rId6">
            <a:alphaModFix/>
          </a:blip>
          <a:srcRect/>
          <a:stretch/>
        </p:blipFill>
        <p:spPr>
          <a:xfrm>
            <a:off x="581025" y="2119312"/>
            <a:ext cx="171450" cy="200025"/>
          </a:xfrm>
          <a:prstGeom prst="rect">
            <a:avLst/>
          </a:prstGeom>
          <a:noFill/>
          <a:ln>
            <a:noFill/>
          </a:ln>
        </p:spPr>
      </p:pic>
      <p:pic>
        <p:nvPicPr>
          <p:cNvPr id="98" name="Google Shape;98;p14" descr="image.png"/>
          <p:cNvPicPr preferRelativeResize="0"/>
          <p:nvPr/>
        </p:nvPicPr>
        <p:blipFill rotWithShape="1">
          <a:blip r:embed="rId7">
            <a:alphaModFix/>
          </a:blip>
          <a:srcRect/>
          <a:stretch/>
        </p:blipFill>
        <p:spPr>
          <a:xfrm>
            <a:off x="581025" y="3262312"/>
            <a:ext cx="190500" cy="200025"/>
          </a:xfrm>
          <a:prstGeom prst="rect">
            <a:avLst/>
          </a:prstGeom>
          <a:noFill/>
          <a:ln>
            <a:noFill/>
          </a:ln>
        </p:spPr>
      </p:pic>
      <p:pic>
        <p:nvPicPr>
          <p:cNvPr id="99" name="Google Shape;99;p14" descr="image.png"/>
          <p:cNvPicPr preferRelativeResize="0"/>
          <p:nvPr/>
        </p:nvPicPr>
        <p:blipFill rotWithShape="1">
          <a:blip r:embed="rId8">
            <a:alphaModFix/>
          </a:blip>
          <a:srcRect/>
          <a:stretch/>
        </p:blipFill>
        <p:spPr>
          <a:xfrm>
            <a:off x="581025" y="4405312"/>
            <a:ext cx="238125" cy="200025"/>
          </a:xfrm>
          <a:prstGeom prst="rect">
            <a:avLst/>
          </a:prstGeom>
          <a:noFill/>
          <a:ln>
            <a:noFill/>
          </a:ln>
        </p:spPr>
      </p:pic>
      <p:sp>
        <p:nvSpPr>
          <p:cNvPr id="100" name="Google Shape;100;p14"/>
          <p:cNvSpPr txBox="1"/>
          <p:nvPr/>
        </p:nvSpPr>
        <p:spPr>
          <a:xfrm>
            <a:off x="581025" y="581025"/>
            <a:ext cx="11581447"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dirty="0">
                <a:solidFill>
                  <a:srgbClr val="F8FAFC"/>
                </a:solidFill>
                <a:latin typeface="Space Grotesk"/>
                <a:ea typeface="Space Grotesk"/>
                <a:cs typeface="Space Grotesk"/>
                <a:sym typeface="Space Grotesk"/>
              </a:rPr>
              <a:t>Why Agentic AI is</a:t>
            </a:r>
            <a:r>
              <a:rPr lang="en-US" sz="3900" b="1" i="0" u="none" strike="noStrike" cap="none" dirty="0">
                <a:solidFill>
                  <a:srgbClr val="F8FAFC"/>
                </a:solidFill>
                <a:latin typeface="Space Grotesk"/>
                <a:ea typeface="Space Grotesk"/>
                <a:cs typeface="Space Grotesk"/>
                <a:sym typeface="Space Grotesk"/>
              </a:rPr>
              <a:t> </a:t>
            </a:r>
            <a:r>
              <a:rPr lang="en-US" sz="3900" b="1" dirty="0">
                <a:solidFill>
                  <a:srgbClr val="00E5FF"/>
                </a:solidFill>
                <a:latin typeface="Space Grotesk"/>
                <a:ea typeface="Space Grotesk"/>
                <a:cs typeface="Space Grotesk"/>
                <a:sym typeface="Space Grotesk"/>
              </a:rPr>
              <a:t>Needed</a:t>
            </a:r>
            <a:endParaRPr dirty="0"/>
          </a:p>
        </p:txBody>
      </p:sp>
      <p:pic>
        <p:nvPicPr>
          <p:cNvPr id="5" name="Picture 4">
            <a:extLst>
              <a:ext uri="{FF2B5EF4-FFF2-40B4-BE49-F238E27FC236}">
                <a16:creationId xmlns:a16="http://schemas.microsoft.com/office/drawing/2014/main" id="{D59E9DEA-75BA-FB87-DCCC-402DA249AC33}"/>
              </a:ext>
            </a:extLst>
          </p:cNvPr>
          <p:cNvPicPr>
            <a:picLocks noChangeAspect="1"/>
          </p:cNvPicPr>
          <p:nvPr/>
        </p:nvPicPr>
        <p:blipFill>
          <a:blip r:embed="rId9"/>
          <a:stretch>
            <a:fillRect/>
          </a:stretch>
        </p:blipFill>
        <p:spPr>
          <a:xfrm>
            <a:off x="6377218" y="1135209"/>
            <a:ext cx="5453998" cy="526911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16" descr="image.png"/>
          <p:cNvPicPr preferRelativeResize="0"/>
          <p:nvPr/>
        </p:nvPicPr>
        <p:blipFill rotWithShape="1">
          <a:blip r:embed="rId4">
            <a:alphaModFix/>
          </a:blip>
          <a:srcRect/>
          <a:stretch/>
        </p:blipFill>
        <p:spPr>
          <a:xfrm>
            <a:off x="6381750" y="2028825"/>
            <a:ext cx="5229225" cy="3810000"/>
          </a:xfrm>
          <a:prstGeom prst="rect">
            <a:avLst/>
          </a:prstGeom>
          <a:noFill/>
          <a:ln>
            <a:noFill/>
          </a:ln>
        </p:spPr>
      </p:pic>
      <p:sp>
        <p:nvSpPr>
          <p:cNvPr id="119" name="Google Shape;119;p16"/>
          <p:cNvSpPr txBox="1"/>
          <p:nvPr/>
        </p:nvSpPr>
        <p:spPr>
          <a:xfrm>
            <a:off x="914400" y="2066925"/>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8FAFC"/>
                </a:solidFill>
                <a:latin typeface="Inter"/>
                <a:ea typeface="Inter"/>
                <a:cs typeface="Inter"/>
                <a:sym typeface="Inter"/>
              </a:rPr>
              <a:t>Ingest &amp; Deduplicate:</a:t>
            </a:r>
            <a:r>
              <a:rPr lang="en-US" sz="1500" b="0" i="0" u="none" strike="noStrike" cap="none">
                <a:solidFill>
                  <a:srgbClr val="94A3B8"/>
                </a:solidFill>
                <a:latin typeface="Inter"/>
                <a:ea typeface="Inter"/>
                <a:cs typeface="Inter"/>
                <a:sym typeface="Inter"/>
              </a:rPr>
              <a:t> AI agents instantly categorize alerts, filtering out up to 95% of false positives (like benign software updates) without human interaction.</a:t>
            </a:r>
            <a:endParaRPr/>
          </a:p>
        </p:txBody>
      </p:sp>
      <p:sp>
        <p:nvSpPr>
          <p:cNvPr id="120" name="Google Shape;120;p16"/>
          <p:cNvSpPr txBox="1"/>
          <p:nvPr/>
        </p:nvSpPr>
        <p:spPr>
          <a:xfrm>
            <a:off x="914400" y="3209925"/>
            <a:ext cx="4895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8FAFC"/>
                </a:solidFill>
                <a:latin typeface="Inter"/>
                <a:ea typeface="Inter"/>
                <a:cs typeface="Inter"/>
                <a:sym typeface="Inter"/>
              </a:rPr>
              <a:t>Autonomous Enrichment:</a:t>
            </a:r>
            <a:r>
              <a:rPr lang="en-US" sz="1500" b="0" i="0" u="none" strike="noStrike" cap="none">
                <a:solidFill>
                  <a:srgbClr val="94A3B8"/>
                </a:solidFill>
                <a:latin typeface="Inter"/>
                <a:ea typeface="Inter"/>
                <a:cs typeface="Inter"/>
                <a:sym typeface="Inter"/>
              </a:rPr>
              <a:t> Agents simultaneously query SIEM, EDR, Identity logs, and external Threat Intel to build a unified timeline of the attack path.</a:t>
            </a:r>
            <a:endParaRPr/>
          </a:p>
        </p:txBody>
      </p:sp>
      <p:sp>
        <p:nvSpPr>
          <p:cNvPr id="121" name="Google Shape;121;p16"/>
          <p:cNvSpPr txBox="1"/>
          <p:nvPr/>
        </p:nvSpPr>
        <p:spPr>
          <a:xfrm>
            <a:off x="914400" y="4352925"/>
            <a:ext cx="48958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8FAFC"/>
                </a:solidFill>
                <a:latin typeface="Inter"/>
                <a:ea typeface="Inter"/>
                <a:cs typeface="Inter"/>
                <a:sym typeface="Inter"/>
              </a:rPr>
              <a:t>Outcome-Ready Dossiers:</a:t>
            </a:r>
            <a:r>
              <a:rPr lang="en-US" sz="1500" b="0" i="0" u="none" strike="noStrike" cap="none">
                <a:solidFill>
                  <a:srgbClr val="94A3B8"/>
                </a:solidFill>
                <a:latin typeface="Inter"/>
                <a:ea typeface="Inter"/>
                <a:cs typeface="Inter"/>
                <a:sym typeface="Inter"/>
              </a:rPr>
              <a:t> Instead of raw alerts, analysts receive fully investigated incident dossiers, accelerating their ability to make critical containment decisions.</a:t>
            </a:r>
            <a:endParaRPr/>
          </a:p>
        </p:txBody>
      </p:sp>
      <p:pic>
        <p:nvPicPr>
          <p:cNvPr id="122" name="Google Shape;122;p16" descr="image.png"/>
          <p:cNvPicPr preferRelativeResize="0"/>
          <p:nvPr/>
        </p:nvPicPr>
        <p:blipFill rotWithShape="1">
          <a:blip r:embed="rId5">
            <a:alphaModFix/>
          </a:blip>
          <a:srcRect/>
          <a:stretch/>
        </p:blipFill>
        <p:spPr>
          <a:xfrm>
            <a:off x="6391275" y="2038350"/>
            <a:ext cx="5210175" cy="381000"/>
          </a:xfrm>
          <a:prstGeom prst="rect">
            <a:avLst/>
          </a:prstGeom>
          <a:noFill/>
          <a:ln>
            <a:noFill/>
          </a:ln>
        </p:spPr>
      </p:pic>
      <p:pic>
        <p:nvPicPr>
          <p:cNvPr id="123" name="Google Shape;123;p16" descr="image.png"/>
          <p:cNvPicPr preferRelativeResize="0"/>
          <p:nvPr/>
        </p:nvPicPr>
        <p:blipFill rotWithShape="1">
          <a:blip r:embed="rId6">
            <a:alphaModFix/>
          </a:blip>
          <a:srcRect/>
          <a:stretch/>
        </p:blipFill>
        <p:spPr>
          <a:xfrm>
            <a:off x="581025" y="2119312"/>
            <a:ext cx="190500" cy="200025"/>
          </a:xfrm>
          <a:prstGeom prst="rect">
            <a:avLst/>
          </a:prstGeom>
          <a:noFill/>
          <a:ln>
            <a:noFill/>
          </a:ln>
        </p:spPr>
      </p:pic>
      <p:pic>
        <p:nvPicPr>
          <p:cNvPr id="124" name="Google Shape;124;p16" descr="image.png"/>
          <p:cNvPicPr preferRelativeResize="0"/>
          <p:nvPr/>
        </p:nvPicPr>
        <p:blipFill rotWithShape="1">
          <a:blip r:embed="rId7">
            <a:alphaModFix/>
          </a:blip>
          <a:srcRect/>
          <a:stretch/>
        </p:blipFill>
        <p:spPr>
          <a:xfrm>
            <a:off x="581025" y="3262312"/>
            <a:ext cx="238125" cy="200025"/>
          </a:xfrm>
          <a:prstGeom prst="rect">
            <a:avLst/>
          </a:prstGeom>
          <a:noFill/>
          <a:ln>
            <a:noFill/>
          </a:ln>
        </p:spPr>
      </p:pic>
      <p:pic>
        <p:nvPicPr>
          <p:cNvPr id="125" name="Google Shape;125;p16" descr="image.png"/>
          <p:cNvPicPr preferRelativeResize="0"/>
          <p:nvPr/>
        </p:nvPicPr>
        <p:blipFill rotWithShape="1">
          <a:blip r:embed="rId8">
            <a:alphaModFix/>
          </a:blip>
          <a:srcRect/>
          <a:stretch/>
        </p:blipFill>
        <p:spPr>
          <a:xfrm>
            <a:off x="581025" y="4405312"/>
            <a:ext cx="219075" cy="200025"/>
          </a:xfrm>
          <a:prstGeom prst="rect">
            <a:avLst/>
          </a:prstGeom>
          <a:noFill/>
          <a:ln>
            <a:noFill/>
          </a:ln>
        </p:spPr>
      </p:pic>
      <p:sp>
        <p:nvSpPr>
          <p:cNvPr id="126" name="Google Shape;126;p16"/>
          <p:cNvSpPr txBox="1"/>
          <p:nvPr/>
        </p:nvSpPr>
        <p:spPr>
          <a:xfrm>
            <a:off x="581025" y="581025"/>
            <a:ext cx="11581447"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i="0" u="none" strike="noStrike" cap="none">
                <a:solidFill>
                  <a:srgbClr val="F8FAFC"/>
                </a:solidFill>
                <a:latin typeface="Space Grotesk"/>
                <a:ea typeface="Space Grotesk"/>
                <a:cs typeface="Space Grotesk"/>
                <a:sym typeface="Space Grotesk"/>
              </a:rPr>
              <a:t>The Autonomous </a:t>
            </a:r>
            <a:r>
              <a:rPr lang="en-US" sz="3900" b="1" i="0" u="none" strike="noStrike" cap="none">
                <a:solidFill>
                  <a:srgbClr val="00E5FF"/>
                </a:solidFill>
                <a:latin typeface="Space Grotesk"/>
                <a:ea typeface="Space Grotesk"/>
                <a:cs typeface="Space Grotesk"/>
                <a:sym typeface="Space Grotesk"/>
              </a:rPr>
              <a:t>Workflow</a:t>
            </a:r>
            <a:endParaRPr/>
          </a:p>
        </p:txBody>
      </p:sp>
      <p:pic>
        <p:nvPicPr>
          <p:cNvPr id="5" name="Picture 4">
            <a:extLst>
              <a:ext uri="{FF2B5EF4-FFF2-40B4-BE49-F238E27FC236}">
                <a16:creationId xmlns:a16="http://schemas.microsoft.com/office/drawing/2014/main" id="{C9E7A03F-0594-EC10-59F8-4B6A1CA8A06F}"/>
              </a:ext>
            </a:extLst>
          </p:cNvPr>
          <p:cNvPicPr>
            <a:picLocks noChangeAspect="1"/>
          </p:cNvPicPr>
          <p:nvPr/>
        </p:nvPicPr>
        <p:blipFill>
          <a:blip r:embed="rId9"/>
          <a:stretch>
            <a:fillRect/>
          </a:stretch>
        </p:blipFill>
        <p:spPr>
          <a:xfrm>
            <a:off x="6391275" y="1669811"/>
            <a:ext cx="5298950" cy="45034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2" name="Google Shape;132;p17" descr="image.png"/>
          <p:cNvPicPr preferRelativeResize="0"/>
          <p:nvPr/>
        </p:nvPicPr>
        <p:blipFill rotWithShape="1">
          <a:blip r:embed="rId4">
            <a:alphaModFix/>
          </a:blip>
          <a:srcRect/>
          <a:stretch/>
        </p:blipFill>
        <p:spPr>
          <a:xfrm>
            <a:off x="581025" y="1590675"/>
            <a:ext cx="3422600" cy="4686300"/>
          </a:xfrm>
          <a:prstGeom prst="rect">
            <a:avLst/>
          </a:prstGeom>
          <a:noFill/>
          <a:ln>
            <a:noFill/>
          </a:ln>
        </p:spPr>
      </p:pic>
      <p:pic>
        <p:nvPicPr>
          <p:cNvPr id="133" name="Google Shape;133;p17" descr="image.png"/>
          <p:cNvPicPr preferRelativeResize="0"/>
          <p:nvPr/>
        </p:nvPicPr>
        <p:blipFill rotWithShape="1">
          <a:blip r:embed="rId5">
            <a:alphaModFix/>
          </a:blip>
          <a:srcRect/>
          <a:stretch/>
        </p:blipFill>
        <p:spPr>
          <a:xfrm>
            <a:off x="4384625" y="1590675"/>
            <a:ext cx="3422600" cy="4686300"/>
          </a:xfrm>
          <a:prstGeom prst="rect">
            <a:avLst/>
          </a:prstGeom>
          <a:noFill/>
          <a:ln>
            <a:noFill/>
          </a:ln>
        </p:spPr>
      </p:pic>
      <p:pic>
        <p:nvPicPr>
          <p:cNvPr id="134" name="Google Shape;134;p17" descr="image.png"/>
          <p:cNvPicPr preferRelativeResize="0"/>
          <p:nvPr/>
        </p:nvPicPr>
        <p:blipFill rotWithShape="1">
          <a:blip r:embed="rId6">
            <a:alphaModFix/>
          </a:blip>
          <a:srcRect/>
          <a:stretch/>
        </p:blipFill>
        <p:spPr>
          <a:xfrm>
            <a:off x="8188225" y="1590675"/>
            <a:ext cx="3422600" cy="4686300"/>
          </a:xfrm>
          <a:prstGeom prst="rect">
            <a:avLst/>
          </a:prstGeom>
          <a:noFill/>
          <a:ln>
            <a:noFill/>
          </a:ln>
        </p:spPr>
      </p:pic>
      <p:sp>
        <p:nvSpPr>
          <p:cNvPr id="135" name="Google Shape;135;p17"/>
          <p:cNvSpPr/>
          <p:nvPr/>
        </p:nvSpPr>
        <p:spPr>
          <a:xfrm>
            <a:off x="590550" y="3914775"/>
            <a:ext cx="3403549" cy="3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6" name="Google Shape;136;p17" descr="image.png"/>
          <p:cNvPicPr preferRelativeResize="0"/>
          <p:nvPr/>
        </p:nvPicPr>
        <p:blipFill rotWithShape="1">
          <a:blip r:embed="rId7">
            <a:alphaModFix/>
          </a:blip>
          <a:srcRect/>
          <a:stretch/>
        </p:blipFill>
        <p:spPr>
          <a:xfrm>
            <a:off x="971550" y="1981200"/>
            <a:ext cx="666750" cy="666750"/>
          </a:xfrm>
          <a:prstGeom prst="rect">
            <a:avLst/>
          </a:prstGeom>
          <a:noFill/>
          <a:ln>
            <a:noFill/>
          </a:ln>
        </p:spPr>
      </p:pic>
      <p:sp>
        <p:nvSpPr>
          <p:cNvPr id="137" name="Google Shape;137;p17"/>
          <p:cNvSpPr txBox="1"/>
          <p:nvPr/>
        </p:nvSpPr>
        <p:spPr>
          <a:xfrm>
            <a:off x="971550" y="2876550"/>
            <a:ext cx="277362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2E8F0"/>
                </a:solidFill>
                <a:latin typeface="Space Grotesk"/>
                <a:ea typeface="Space Grotesk"/>
                <a:cs typeface="Space Grotesk"/>
                <a:sym typeface="Space Grotesk"/>
              </a:rPr>
              <a:t>5x Faster MTTR</a:t>
            </a:r>
            <a:endParaRPr/>
          </a:p>
        </p:txBody>
      </p:sp>
      <p:sp>
        <p:nvSpPr>
          <p:cNvPr id="138" name="Google Shape;138;p17"/>
          <p:cNvSpPr txBox="1"/>
          <p:nvPr/>
        </p:nvSpPr>
        <p:spPr>
          <a:xfrm>
            <a:off x="971550" y="3371850"/>
            <a:ext cx="2641550"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Agentic workflows drastically slash Mean Time To Respond, compressing incident investigation times from days and hours down to mere minutes.</a:t>
            </a:r>
            <a:endParaRPr/>
          </a:p>
        </p:txBody>
      </p:sp>
      <p:sp>
        <p:nvSpPr>
          <p:cNvPr id="139" name="Google Shape;139;p17"/>
          <p:cNvSpPr/>
          <p:nvPr/>
        </p:nvSpPr>
        <p:spPr>
          <a:xfrm>
            <a:off x="4394150" y="3914775"/>
            <a:ext cx="3403549" cy="3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0" name="Google Shape;140;p17" descr="image.png"/>
          <p:cNvPicPr preferRelativeResize="0"/>
          <p:nvPr/>
        </p:nvPicPr>
        <p:blipFill rotWithShape="1">
          <a:blip r:embed="rId8">
            <a:alphaModFix/>
          </a:blip>
          <a:srcRect/>
          <a:stretch/>
        </p:blipFill>
        <p:spPr>
          <a:xfrm>
            <a:off x="4775150" y="1981200"/>
            <a:ext cx="666750" cy="666750"/>
          </a:xfrm>
          <a:prstGeom prst="rect">
            <a:avLst/>
          </a:prstGeom>
          <a:noFill/>
          <a:ln>
            <a:noFill/>
          </a:ln>
        </p:spPr>
      </p:pic>
      <p:sp>
        <p:nvSpPr>
          <p:cNvPr id="141" name="Google Shape;141;p17"/>
          <p:cNvSpPr txBox="1"/>
          <p:nvPr/>
        </p:nvSpPr>
        <p:spPr>
          <a:xfrm>
            <a:off x="4775150" y="2876550"/>
            <a:ext cx="277362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2E8F0"/>
                </a:solidFill>
                <a:latin typeface="Space Grotesk"/>
                <a:ea typeface="Space Grotesk"/>
                <a:cs typeface="Space Grotesk"/>
                <a:sym typeface="Space Grotesk"/>
              </a:rPr>
              <a:t>85% Less Noise</a:t>
            </a:r>
            <a:endParaRPr/>
          </a:p>
        </p:txBody>
      </p:sp>
      <p:sp>
        <p:nvSpPr>
          <p:cNvPr id="142" name="Google Shape;142;p17"/>
          <p:cNvSpPr txBox="1"/>
          <p:nvPr/>
        </p:nvSpPr>
        <p:spPr>
          <a:xfrm>
            <a:off x="4775150" y="3371850"/>
            <a:ext cx="2641550"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Massive reduction in manual alert investigation. By auto-resolving false positives, security analysts are completely freed from alert fatigue.</a:t>
            </a:r>
            <a:endParaRPr/>
          </a:p>
        </p:txBody>
      </p:sp>
      <p:sp>
        <p:nvSpPr>
          <p:cNvPr id="143" name="Google Shape;143;p17"/>
          <p:cNvSpPr/>
          <p:nvPr/>
        </p:nvSpPr>
        <p:spPr>
          <a:xfrm>
            <a:off x="8197751" y="3914775"/>
            <a:ext cx="3403549" cy="3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17" descr="image.png"/>
          <p:cNvPicPr preferRelativeResize="0"/>
          <p:nvPr/>
        </p:nvPicPr>
        <p:blipFill rotWithShape="1">
          <a:blip r:embed="rId9">
            <a:alphaModFix/>
          </a:blip>
          <a:srcRect/>
          <a:stretch/>
        </p:blipFill>
        <p:spPr>
          <a:xfrm>
            <a:off x="8578750" y="1981200"/>
            <a:ext cx="666750" cy="666750"/>
          </a:xfrm>
          <a:prstGeom prst="rect">
            <a:avLst/>
          </a:prstGeom>
          <a:noFill/>
          <a:ln>
            <a:noFill/>
          </a:ln>
        </p:spPr>
      </p:pic>
      <p:sp>
        <p:nvSpPr>
          <p:cNvPr id="145" name="Google Shape;145;p17"/>
          <p:cNvSpPr txBox="1"/>
          <p:nvPr/>
        </p:nvSpPr>
        <p:spPr>
          <a:xfrm>
            <a:off x="8578750" y="2876550"/>
            <a:ext cx="2773627"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E2E8F0"/>
                </a:solidFill>
                <a:latin typeface="Space Grotesk"/>
                <a:ea typeface="Space Grotesk"/>
                <a:cs typeface="Space Grotesk"/>
                <a:sym typeface="Space Grotesk"/>
              </a:rPr>
              <a:t>Savings</a:t>
            </a:r>
            <a:endParaRPr dirty="0"/>
          </a:p>
        </p:txBody>
      </p:sp>
      <p:sp>
        <p:nvSpPr>
          <p:cNvPr id="146" name="Google Shape;146;p17"/>
          <p:cNvSpPr txBox="1"/>
          <p:nvPr/>
        </p:nvSpPr>
        <p:spPr>
          <a:xfrm>
            <a:off x="8578750" y="3371850"/>
            <a:ext cx="2641550"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According to recent industry metrics, organizations utilizing extensive AI automation save an average of $1.9 million per data breach incident.</a:t>
            </a:r>
            <a:endParaRPr/>
          </a:p>
        </p:txBody>
      </p:sp>
      <p:pic>
        <p:nvPicPr>
          <p:cNvPr id="147" name="Google Shape;147;p17" descr="image.png"/>
          <p:cNvPicPr preferRelativeResize="0"/>
          <p:nvPr/>
        </p:nvPicPr>
        <p:blipFill rotWithShape="1">
          <a:blip r:embed="rId10">
            <a:alphaModFix/>
          </a:blip>
          <a:srcRect/>
          <a:stretch/>
        </p:blipFill>
        <p:spPr>
          <a:xfrm>
            <a:off x="1171575" y="2162175"/>
            <a:ext cx="266700" cy="304800"/>
          </a:xfrm>
          <a:prstGeom prst="rect">
            <a:avLst/>
          </a:prstGeom>
          <a:noFill/>
          <a:ln>
            <a:noFill/>
          </a:ln>
        </p:spPr>
      </p:pic>
      <p:pic>
        <p:nvPicPr>
          <p:cNvPr id="148" name="Google Shape;148;p17" descr="image.png"/>
          <p:cNvPicPr preferRelativeResize="0"/>
          <p:nvPr/>
        </p:nvPicPr>
        <p:blipFill rotWithShape="1">
          <a:blip r:embed="rId11">
            <a:alphaModFix/>
          </a:blip>
          <a:srcRect/>
          <a:stretch/>
        </p:blipFill>
        <p:spPr>
          <a:xfrm>
            <a:off x="4937075" y="2162175"/>
            <a:ext cx="342900" cy="304800"/>
          </a:xfrm>
          <a:prstGeom prst="rect">
            <a:avLst/>
          </a:prstGeom>
          <a:noFill/>
          <a:ln>
            <a:noFill/>
          </a:ln>
        </p:spPr>
      </p:pic>
      <p:pic>
        <p:nvPicPr>
          <p:cNvPr id="149" name="Google Shape;149;p17" descr="image.png"/>
          <p:cNvPicPr preferRelativeResize="0"/>
          <p:nvPr/>
        </p:nvPicPr>
        <p:blipFill rotWithShape="1">
          <a:blip r:embed="rId12">
            <a:alphaModFix/>
          </a:blip>
          <a:srcRect/>
          <a:stretch/>
        </p:blipFill>
        <p:spPr>
          <a:xfrm>
            <a:off x="8759725" y="2162175"/>
            <a:ext cx="304800" cy="304800"/>
          </a:xfrm>
          <a:prstGeom prst="rect">
            <a:avLst/>
          </a:prstGeom>
          <a:noFill/>
          <a:ln>
            <a:noFill/>
          </a:ln>
        </p:spPr>
      </p:pic>
      <p:sp>
        <p:nvSpPr>
          <p:cNvPr id="150" name="Google Shape;150;p17"/>
          <p:cNvSpPr txBox="1"/>
          <p:nvPr/>
        </p:nvSpPr>
        <p:spPr>
          <a:xfrm>
            <a:off x="581025" y="581025"/>
            <a:ext cx="11581447"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i="0" u="none" strike="noStrike" cap="none">
                <a:solidFill>
                  <a:srgbClr val="F8FAFC"/>
                </a:solidFill>
                <a:latin typeface="Space Grotesk"/>
                <a:ea typeface="Space Grotesk"/>
                <a:cs typeface="Space Grotesk"/>
                <a:sym typeface="Space Grotesk"/>
              </a:rPr>
              <a:t>The Mathematical </a:t>
            </a:r>
            <a:r>
              <a:rPr lang="en-US" sz="3900" b="1" i="0" u="none" strike="noStrike" cap="none">
                <a:solidFill>
                  <a:srgbClr val="00E5FF"/>
                </a:solidFill>
                <a:latin typeface="Space Grotesk"/>
                <a:ea typeface="Space Grotesk"/>
                <a:cs typeface="Space Grotesk"/>
                <a:sym typeface="Space Grotesk"/>
              </a:rPr>
              <a:t>Advantage</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6" name="Google Shape;156;p18"/>
          <p:cNvSpPr txBox="1"/>
          <p:nvPr/>
        </p:nvSpPr>
        <p:spPr>
          <a:xfrm>
            <a:off x="581025" y="581025"/>
            <a:ext cx="5490686" cy="1257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i="0" u="none" strike="noStrike" cap="none">
                <a:solidFill>
                  <a:srgbClr val="F8FAFC"/>
                </a:solidFill>
                <a:latin typeface="Space Grotesk"/>
                <a:ea typeface="Space Grotesk"/>
                <a:cs typeface="Space Grotesk"/>
                <a:sym typeface="Space Grotesk"/>
              </a:rPr>
              <a:t>The Human </a:t>
            </a:r>
            <a:r>
              <a:rPr lang="en-US" sz="3900" b="1" i="0" u="none" strike="noStrike" cap="none">
                <a:solidFill>
                  <a:srgbClr val="00E5FF"/>
                </a:solidFill>
                <a:latin typeface="Space Grotesk"/>
                <a:ea typeface="Space Grotesk"/>
                <a:cs typeface="Space Grotesk"/>
                <a:sym typeface="Space Grotesk"/>
              </a:rPr>
              <a:t>in the Loop</a:t>
            </a:r>
            <a:endParaRPr/>
          </a:p>
        </p:txBody>
      </p:sp>
      <p:pic>
        <p:nvPicPr>
          <p:cNvPr id="157" name="Google Shape;157;p18" descr="image.png"/>
          <p:cNvPicPr preferRelativeResize="0"/>
          <p:nvPr/>
        </p:nvPicPr>
        <p:blipFill rotWithShape="1">
          <a:blip r:embed="rId4">
            <a:alphaModFix/>
          </a:blip>
          <a:srcRect/>
          <a:stretch/>
        </p:blipFill>
        <p:spPr>
          <a:xfrm>
            <a:off x="6381750" y="9525"/>
            <a:ext cx="5800725" cy="6858000"/>
          </a:xfrm>
          <a:prstGeom prst="rect">
            <a:avLst/>
          </a:prstGeom>
          <a:noFill/>
          <a:ln>
            <a:noFill/>
          </a:ln>
        </p:spPr>
      </p:pic>
      <p:sp>
        <p:nvSpPr>
          <p:cNvPr id="158" name="Google Shape;158;p18"/>
          <p:cNvSpPr txBox="1"/>
          <p:nvPr/>
        </p:nvSpPr>
        <p:spPr>
          <a:xfrm>
            <a:off x="581025" y="2647950"/>
            <a:ext cx="5490686"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2E8F0"/>
                </a:solidFill>
                <a:latin typeface="Space Grotesk"/>
                <a:ea typeface="Space Grotesk"/>
                <a:cs typeface="Space Grotesk"/>
                <a:sym typeface="Space Grotesk"/>
              </a:rPr>
              <a:t>Elevating the Analyst</a:t>
            </a:r>
            <a:endParaRPr/>
          </a:p>
        </p:txBody>
      </p:sp>
      <p:sp>
        <p:nvSpPr>
          <p:cNvPr id="159" name="Google Shape;159;p18"/>
          <p:cNvSpPr txBox="1"/>
          <p:nvPr/>
        </p:nvSpPr>
        <p:spPr>
          <a:xfrm>
            <a:off x="581025" y="3143250"/>
            <a:ext cx="52292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An Agentic SOC does not replace human judgment; it amplifies it. By fully automating the mechanical, data-gathering labor of Tier-1 analysis, security teams are elevated to Tier-2 and Tier-3 responsibilities.</a:t>
            </a:r>
            <a:endParaRPr/>
          </a:p>
        </p:txBody>
      </p:sp>
      <p:sp>
        <p:nvSpPr>
          <p:cNvPr id="160" name="Google Shape;160;p18"/>
          <p:cNvSpPr txBox="1"/>
          <p:nvPr/>
        </p:nvSpPr>
        <p:spPr>
          <a:xfrm>
            <a:off x="581025" y="4505325"/>
            <a:ext cx="52292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We shift human effort away from reacting to low-level noise, empowering analysts to focus entirely on proactive threat hunting, strategic defense architecture, and high-stakes containment decisions.</a:t>
            </a:r>
            <a:endParaRPr/>
          </a:p>
        </p:txBody>
      </p:sp>
      <p:sp>
        <p:nvSpPr>
          <p:cNvPr id="161" name="Google Shape;161;p18"/>
          <p:cNvSpPr/>
          <p:nvPr/>
        </p:nvSpPr>
        <p:spPr>
          <a:xfrm>
            <a:off x="6381750" y="9525"/>
            <a:ext cx="5800725"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C9695F82-5A7E-E6AF-B0D0-DEEEF483565D}"/>
              </a:ext>
            </a:extLst>
          </p:cNvPr>
          <p:cNvPicPr>
            <a:picLocks noChangeAspect="1"/>
          </p:cNvPicPr>
          <p:nvPr/>
        </p:nvPicPr>
        <p:blipFill>
          <a:blip r:embed="rId5"/>
          <a:stretch>
            <a:fillRect/>
          </a:stretch>
        </p:blipFill>
        <p:spPr>
          <a:xfrm>
            <a:off x="6372225" y="9524"/>
            <a:ext cx="5869538" cy="69612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202E8B-0A2F-565A-D057-F1655D096BD9}"/>
            </a:ext>
          </a:extLst>
        </p:cNvPr>
        <p:cNvGrpSpPr/>
        <p:nvPr/>
      </p:nvGrpSpPr>
      <p:grpSpPr>
        <a:xfrm>
          <a:off x="0" y="0"/>
          <a:ext cx="0" cy="0"/>
          <a:chOff x="0" y="0"/>
          <a:chExt cx="0" cy="0"/>
        </a:xfrm>
      </p:grpSpPr>
      <p:pic>
        <p:nvPicPr>
          <p:cNvPr id="105" name="Google Shape;105;p15" descr="image.png">
            <a:extLst>
              <a:ext uri="{FF2B5EF4-FFF2-40B4-BE49-F238E27FC236}">
                <a16:creationId xmlns:a16="http://schemas.microsoft.com/office/drawing/2014/main" id="{9D25DC83-55D7-15E7-F7E4-A092FD1C5F0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6" name="Google Shape;106;p15" descr="image.png">
            <a:extLst>
              <a:ext uri="{FF2B5EF4-FFF2-40B4-BE49-F238E27FC236}">
                <a16:creationId xmlns:a16="http://schemas.microsoft.com/office/drawing/2014/main" id="{D0ED59C3-573C-4039-A1A9-65631C82A868}"/>
              </a:ext>
            </a:extLst>
          </p:cNvPr>
          <p:cNvPicPr preferRelativeResize="0"/>
          <p:nvPr/>
        </p:nvPicPr>
        <p:blipFill rotWithShape="1">
          <a:blip r:embed="rId4">
            <a:alphaModFix/>
          </a:blip>
          <a:srcRect/>
          <a:stretch/>
        </p:blipFill>
        <p:spPr>
          <a:xfrm>
            <a:off x="581025" y="1590675"/>
            <a:ext cx="5229225" cy="4686300"/>
          </a:xfrm>
          <a:prstGeom prst="rect">
            <a:avLst/>
          </a:prstGeom>
          <a:noFill/>
          <a:ln>
            <a:noFill/>
          </a:ln>
        </p:spPr>
      </p:pic>
      <p:pic>
        <p:nvPicPr>
          <p:cNvPr id="107" name="Google Shape;107;p15" descr="image.png">
            <a:extLst>
              <a:ext uri="{FF2B5EF4-FFF2-40B4-BE49-F238E27FC236}">
                <a16:creationId xmlns:a16="http://schemas.microsoft.com/office/drawing/2014/main" id="{396ACAB5-E08F-546F-1E8D-57EEAF780767}"/>
              </a:ext>
            </a:extLst>
          </p:cNvPr>
          <p:cNvPicPr preferRelativeResize="0"/>
          <p:nvPr/>
        </p:nvPicPr>
        <p:blipFill rotWithShape="1">
          <a:blip r:embed="rId5">
            <a:alphaModFix/>
          </a:blip>
          <a:srcRect/>
          <a:stretch/>
        </p:blipFill>
        <p:spPr>
          <a:xfrm>
            <a:off x="6381750" y="1590675"/>
            <a:ext cx="5229225" cy="4686300"/>
          </a:xfrm>
          <a:prstGeom prst="rect">
            <a:avLst/>
          </a:prstGeom>
          <a:noFill/>
          <a:ln>
            <a:noFill/>
          </a:ln>
        </p:spPr>
      </p:pic>
      <p:sp>
        <p:nvSpPr>
          <p:cNvPr id="108" name="Google Shape;108;p15">
            <a:extLst>
              <a:ext uri="{FF2B5EF4-FFF2-40B4-BE49-F238E27FC236}">
                <a16:creationId xmlns:a16="http://schemas.microsoft.com/office/drawing/2014/main" id="{E371AFEB-7F35-5023-8FDE-E256FC9555C9}"/>
              </a:ext>
            </a:extLst>
          </p:cNvPr>
          <p:cNvSpPr txBox="1"/>
          <p:nvPr/>
        </p:nvSpPr>
        <p:spPr>
          <a:xfrm>
            <a:off x="1066800" y="2547937"/>
            <a:ext cx="4470558" cy="6463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1" i="0" u="none" strike="noStrike" kern="0" cap="none" spc="0" normalizeH="0" baseline="0" noProof="0" dirty="0">
                <a:ln>
                  <a:noFill/>
                </a:ln>
                <a:solidFill>
                  <a:srgbClr val="E2E8F0"/>
                </a:solidFill>
                <a:effectLst/>
                <a:uLnTx/>
                <a:uFillTx/>
                <a:latin typeface="Space Grotesk"/>
                <a:ea typeface="Space Grotesk"/>
                <a:cs typeface="Space Grotesk"/>
                <a:sym typeface="Space Grotesk"/>
              </a:rPr>
              <a:t>Google Security Operation (Agentic SOC)</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9" name="Google Shape;109;p15">
            <a:extLst>
              <a:ext uri="{FF2B5EF4-FFF2-40B4-BE49-F238E27FC236}">
                <a16:creationId xmlns:a16="http://schemas.microsoft.com/office/drawing/2014/main" id="{1A065CAC-CD66-9B46-495A-E7E6AD065C03}"/>
              </a:ext>
            </a:extLst>
          </p:cNvPr>
          <p:cNvSpPr txBox="1"/>
          <p:nvPr/>
        </p:nvSpPr>
        <p:spPr>
          <a:xfrm>
            <a:off x="1066800" y="3143249"/>
            <a:ext cx="4257675" cy="1846659"/>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Tx/>
              <a:buFont typeface="Arial"/>
              <a:buNone/>
              <a:tabLst/>
              <a:defRPr/>
            </a:pPr>
            <a:r>
              <a:rPr lang="en-US" sz="1500" dirty="0">
                <a:solidFill>
                  <a:srgbClr val="94A3B8"/>
                </a:solidFill>
                <a:latin typeface="Inter"/>
                <a:ea typeface="Inter"/>
                <a:sym typeface="Inter"/>
              </a:rPr>
              <a:t>Google has fully leaned into this with their Gemini-powered security operations. Their agentic system doesn’t just summarize alerts; it actively runs autonomous agents for specific tasks.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0" name="Google Shape;110;p15">
            <a:extLst>
              <a:ext uri="{FF2B5EF4-FFF2-40B4-BE49-F238E27FC236}">
                <a16:creationId xmlns:a16="http://schemas.microsoft.com/office/drawing/2014/main" id="{36F5DE16-35C5-07DE-0A38-4C2DD5E979A2}"/>
              </a:ext>
            </a:extLst>
          </p:cNvPr>
          <p:cNvSpPr txBox="1"/>
          <p:nvPr/>
        </p:nvSpPr>
        <p:spPr>
          <a:xfrm>
            <a:off x="6867525" y="2547937"/>
            <a:ext cx="4470558" cy="3231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100" b="1" dirty="0">
                <a:solidFill>
                  <a:srgbClr val="E2E8F0"/>
                </a:solidFill>
                <a:latin typeface="Space Grotesk"/>
                <a:cs typeface="Space Grotesk"/>
                <a:sym typeface="Space Grotesk"/>
              </a:rPr>
              <a:t>Elastic Security AI Agent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1" name="Google Shape;111;p15">
            <a:extLst>
              <a:ext uri="{FF2B5EF4-FFF2-40B4-BE49-F238E27FC236}">
                <a16:creationId xmlns:a16="http://schemas.microsoft.com/office/drawing/2014/main" id="{3F9047CC-B254-D69C-43A5-FD5D98413896}"/>
              </a:ext>
            </a:extLst>
          </p:cNvPr>
          <p:cNvSpPr txBox="1"/>
          <p:nvPr/>
        </p:nvSpPr>
        <p:spPr>
          <a:xfrm>
            <a:off x="6867525" y="3043237"/>
            <a:ext cx="4257675" cy="221599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Tx/>
              <a:buFont typeface="Arial"/>
              <a:buNone/>
              <a:tabLst/>
              <a:defRPr/>
            </a:pPr>
            <a:r>
              <a:rPr lang="en-US" sz="1500" dirty="0">
                <a:solidFill>
                  <a:srgbClr val="94A3B8"/>
                </a:solidFill>
                <a:latin typeface="Inter"/>
                <a:ea typeface="Inter"/>
                <a:sym typeface="Inter"/>
              </a:rPr>
              <a:t>Elastic is a massive name in the SOC world, and their approach is very practical. Instead of a black-box AI, they use an AI Agent that executes specific “skills”. If an analyst is looking at a suspicious IP, they can tell the agent to run a Threat Hunt skill.</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2" name="Google Shape;112;p15">
            <a:extLst>
              <a:ext uri="{FF2B5EF4-FFF2-40B4-BE49-F238E27FC236}">
                <a16:creationId xmlns:a16="http://schemas.microsoft.com/office/drawing/2014/main" id="{1D3A8CCB-F202-5788-9CFD-C8297308B6E0}"/>
              </a:ext>
            </a:extLst>
          </p:cNvPr>
          <p:cNvSpPr txBox="1"/>
          <p:nvPr/>
        </p:nvSpPr>
        <p:spPr>
          <a:xfrm>
            <a:off x="581025" y="581025"/>
            <a:ext cx="11581447" cy="6001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3900" b="1" dirty="0">
                <a:solidFill>
                  <a:srgbClr val="F8FAFC"/>
                </a:solidFill>
                <a:latin typeface="Space Grotesk"/>
                <a:cs typeface="Space Grotesk"/>
                <a:sym typeface="Space Grotesk"/>
              </a:rPr>
              <a:t>Examples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96467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532</Words>
  <Application>Microsoft Office PowerPoint</Application>
  <PresentationFormat>Widescreen</PresentationFormat>
  <Paragraphs>31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Space Grotesk</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BCY243024-Mohsin Rasul</cp:lastModifiedBy>
  <cp:revision>5</cp:revision>
  <dcterms:modified xsi:type="dcterms:W3CDTF">2026-07-16T05:44:31Z</dcterms:modified>
</cp:coreProperties>
</file>